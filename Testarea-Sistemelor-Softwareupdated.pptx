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ubot Sans"/>
      <p:regular r:id="rId17"/>
    </p:embeddedFont>
    <p:embeddedFont>
      <p:font typeface="Hubot Sans"/>
      <p:regular r:id="rId18"/>
    </p:embeddedFont>
    <p:embeddedFont>
      <p:font typeface="Roboto Condensed"/>
      <p:regular r:id="rId19"/>
    </p:embeddedFont>
    <p:embeddedFont>
      <p:font typeface="Roboto Condensed"/>
      <p:regular r:id="rId20"/>
    </p:embeddedFont>
    <p:embeddedFont>
      <p:font typeface="Roboto Condensed"/>
      <p:regular r:id="rId21"/>
    </p:embeddedFont>
    <p:embeddedFont>
      <p:font typeface="Roboto Condense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Implementare: Clasa ProcesorComandaWhiteBoxTest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furtunavlad/testarea_sistemelor_software" TargetMode="External"/><Relationship Id="rId8" Type="http://schemas.openxmlformats.org/officeDocument/2006/relationships/hyperlink" Target="https://www.youtube.com/watch?v=zdoa835_XUk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svg"/><Relationship Id="rId7" Type="http://schemas.openxmlformats.org/officeDocument/2006/relationships/image" Target="../media/image-10-6.pn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83221"/>
            <a:ext cx="4722763" cy="166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TESTAREA SISTEMELOR SOFTWARE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496119" y="2615208"/>
            <a:ext cx="4722763" cy="553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T3: TESTARE UNITARĂ ÎN JAVA CU JUNIT 5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96119" y="3434804"/>
            <a:ext cx="5179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Bunescu Robert · Furtuna Vlad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96119" y="3917603"/>
            <a:ext cx="1449958" cy="342602"/>
          </a:xfrm>
          <a:prstGeom prst="roundRect">
            <a:avLst>
              <a:gd name="adj" fmla="val 6207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7144" y="3975497"/>
            <a:ext cx="16851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PROCESORCOMANDA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34629" y="3917603"/>
            <a:ext cx="664815" cy="342602"/>
          </a:xfrm>
          <a:prstGeom prst="roundRect">
            <a:avLst>
              <a:gd name="adj" fmla="val 6207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45655" y="3975497"/>
            <a:ext cx="8999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JUNIT 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87997" y="3917603"/>
            <a:ext cx="700980" cy="342602"/>
          </a:xfrm>
          <a:prstGeom prst="roundRect">
            <a:avLst>
              <a:gd name="adj" fmla="val 6207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99023" y="3975497"/>
            <a:ext cx="9361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JACOCO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77530" y="3917603"/>
            <a:ext cx="625450" cy="342602"/>
          </a:xfrm>
          <a:prstGeom prst="roundRect">
            <a:avLst>
              <a:gd name="adj" fmla="val 6207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8556" y="3975497"/>
            <a:ext cx="8605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PITEST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1533" y="3917603"/>
            <a:ext cx="643682" cy="342602"/>
          </a:xfrm>
          <a:prstGeom prst="roundRect">
            <a:avLst>
              <a:gd name="adj" fmla="val 6207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2559" y="3975497"/>
            <a:ext cx="8788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MAVEN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8897"/>
            <a:ext cx="4575497" cy="498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MEDIU DE TESTARE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96119" y="1574006"/>
            <a:ext cx="3368873" cy="1926059"/>
          </a:xfrm>
          <a:prstGeom prst="roundRect">
            <a:avLst>
              <a:gd name="adj" fmla="val 4748"/>
            </a:avLst>
          </a:prstGeom>
          <a:solidFill>
            <a:srgbClr val="E8E8E3"/>
          </a:solidFill>
          <a:ln w="19050">
            <a:solidFill>
              <a:srgbClr val="C8CA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574006"/>
            <a:ext cx="76200" cy="1926059"/>
          </a:xfrm>
          <a:prstGeom prst="roundRect">
            <a:avLst>
              <a:gd name="adj" fmla="val 31395"/>
            </a:avLst>
          </a:prstGeom>
          <a:solidFill>
            <a:srgbClr val="C8CAC1"/>
          </a:solidFill>
          <a:ln/>
        </p:spPr>
      </p:sp>
      <p:sp>
        <p:nvSpPr>
          <p:cNvPr id="5" name="Text 3"/>
          <p:cNvSpPr/>
          <p:nvPr/>
        </p:nvSpPr>
        <p:spPr>
          <a:xfrm>
            <a:off x="731788" y="1752526"/>
            <a:ext cx="2954685" cy="59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CONFIGURAȚIE HARDWARE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31788" y="2493987"/>
            <a:ext cx="2954685" cy="82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macOS Tahoe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Sistem de operare</a:t>
            </a:r>
            <a:endParaRPr lang="en-US" sz="12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Apple M1 / M1 Pro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Procesor</a:t>
            </a:r>
            <a:endParaRPr lang="en-US" sz="12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16 GB / 32 GB RAM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8791" y="1574006"/>
            <a:ext cx="4393778" cy="2709118"/>
          </a:xfrm>
          <a:prstGeom prst="roundRect">
            <a:avLst>
              <a:gd name="adj" fmla="val 88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418261" y="1733476"/>
            <a:ext cx="4002137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CONFIGURAȚIE SOFTWARE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418261" y="2175942"/>
            <a:ext cx="4074840" cy="1947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Java JDK 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2F6B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24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Platformă de execuție</a:t>
            </a:r>
            <a:endParaRPr lang="en-US" sz="12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IntelliJ IDEA IDE/VS CODE IDE</a:t>
            </a:r>
            <a:endParaRPr lang="en-US" sz="12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JUnit Jupiter 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2F6B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5.13.4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Framework de testare unitară</a:t>
            </a:r>
            <a:endParaRPr lang="en-US" sz="12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JaCoCo Maven Plugin 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2F6B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0.8.14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Acoperire de cod (code coverage)</a:t>
            </a:r>
            <a:endParaRPr lang="en-US" sz="12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pitest-junit5-plugin 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2F6B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1.2.3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Extensie PITest pentru JUnit 5</a:t>
            </a:r>
            <a:endParaRPr lang="en-US" sz="125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Maven</a:t>
            </a:r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- Build tool și dependency management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447526"/>
            <a:ext cx="3801740" cy="256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DESCRIEREA CLASEI TESTATE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41871" y="822722"/>
            <a:ext cx="8260259" cy="530423"/>
          </a:xfrm>
          <a:prstGeom prst="roundRect">
            <a:avLst>
              <a:gd name="adj" fmla="val 290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4413" y="925264"/>
            <a:ext cx="1739503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ROL PRINCIPAL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4413" y="1121048"/>
            <a:ext cx="8512373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Calculul prețului final de plată pentru un coș de cumpărături, aplicând dinamic reduceri procentuale, vouchere valorice și taxe de livrare (inclusiv penalizări de greutate).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71" y="1727597"/>
            <a:ext cx="2713806" cy="7143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413" y="2094681"/>
            <a:ext cx="2508721" cy="320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1: DATE DE INTRARE (5 PARAMETRI)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4413" y="2450678"/>
            <a:ext cx="2508721" cy="730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preturiProduse: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array double[] - prețuri individuale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aniFidelitate: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int - vechimea clientului (ani)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areVoucher: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boolean - cod reducere fix aplicat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greutateColet: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double - greutate pachet (kg)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isVIP:</a:t>
            </a:r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boolean - program Premium/VIP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060" y="1573709"/>
            <a:ext cx="2713806" cy="7143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7602" y="1940793"/>
            <a:ext cx="2839641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2: PRE-CONDIȚII (VALIDĂRI)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17602" y="2136577"/>
            <a:ext cx="2965921" cy="13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Ridică </a:t>
            </a:r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dacă: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317602" y="2306464"/>
            <a:ext cx="2508721" cy="590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Lista prețuri este nulă/goală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greutateColet &lt; 0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aniFidelitate &lt; 0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Oricare preț &lt; 0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248" y="1419895"/>
            <a:ext cx="2713806" cy="7143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90791" y="1786979"/>
            <a:ext cx="2457524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STEP 3: PROCESARE (4 ETAPE)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090791" y="1982763"/>
            <a:ext cx="2508721" cy="839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1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Suma inițială</a:t>
            </a:r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= suma tuturor prețurilor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2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Reducere:</a:t>
            </a:r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2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10% (VIP sau ≥1000 lei) sau 2% (standard) + bonus fidelitate +1%/an (max 5%)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3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Voucher:</a:t>
            </a:r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3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scade fix 50 lei (plafonat la 0)</a:t>
            </a:r>
            <a:endParaRPr lang="en-US" sz="800" dirty="0"/>
          </a:p>
          <a:p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4"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Livrare:</a:t>
            </a:r>
            <a:pPr algn="l" marL="342900" indent="-342900">
              <a:lnSpc>
                <a:spcPct val="105000"/>
              </a:lnSpc>
              <a:buSzPct val="100000"/>
              <a:buFont typeface="+mj-lt"/>
              <a:buAutoNum type="arabicPeriod" startAt="4"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gratuită ≥200 lei; 15 lei sub prag; +2 lei/kg peste 5 kg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71" y="3350791"/>
            <a:ext cx="8260259" cy="11488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413" y="3453333"/>
            <a:ext cx="1739503" cy="160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POST-CONDIȚIE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4413" y="3649117"/>
            <a:ext cx="8512373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Returnează număr real pozitiv, rotunjit la exact 2 zecimale.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544413" y="3814242"/>
            <a:ext cx="8512373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Formula:</a:t>
            </a:r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pPr algn="l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Final = round₂( sumă × (1 − reducere) − voucher + livrare )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544413" y="3979366"/>
            <a:ext cx="8512373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Pipeline-ul procesează: </a:t>
            </a:r>
            <a:pPr algn="l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Validare → Sumă → Reducere → Voucher → Livrare → Rotunjire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544413" y="4144491"/>
            <a:ext cx="8512373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Obiectivul testării este validarea corectitudinii pe reguli de business, granițe și ramuri logice.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441871" y="4566419"/>
            <a:ext cx="870212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6074"/>
            <a:ext cx="481980" cy="228451"/>
          </a:xfrm>
          <a:prstGeom prst="roundRect">
            <a:avLst>
              <a:gd name="adj" fmla="val 6981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655886"/>
            <a:ext cx="77978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44550" y="611312"/>
            <a:ext cx="491505" cy="237976"/>
          </a:xfrm>
          <a:prstGeom prst="roundRect">
            <a:avLst>
              <a:gd name="adj" fmla="val 6702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010" y="655886"/>
            <a:ext cx="77978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889099"/>
            <a:ext cx="839346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REGULI DE BUSINESS - PROCESORCOMANDA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96119" y="1453902"/>
            <a:ext cx="2650778" cy="1189583"/>
          </a:xfrm>
          <a:prstGeom prst="roundRect">
            <a:avLst>
              <a:gd name="adj" fmla="val 5765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1831" y="1453902"/>
            <a:ext cx="57150" cy="1189583"/>
          </a:xfrm>
          <a:prstGeom prst="roundRect">
            <a:avLst>
              <a:gd name="adj" fmla="val 34884"/>
            </a:avLst>
          </a:prstGeom>
          <a:solidFill>
            <a:srgbClr val="C8CAC1"/>
          </a:solidFill>
          <a:ln/>
        </p:spPr>
      </p:sp>
      <p:sp>
        <p:nvSpPr>
          <p:cNvPr id="9" name="Text 7"/>
          <p:cNvSpPr/>
          <p:nvPr/>
        </p:nvSpPr>
        <p:spPr>
          <a:xfrm>
            <a:off x="686172" y="1601093"/>
            <a:ext cx="276105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REDUCERI PROCENTUALE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6172" y="1868537"/>
            <a:ext cx="2313533" cy="627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10%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VIP sau sumă ≥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1000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lei</a:t>
            </a:r>
            <a:endParaRPr lang="en-US" sz="10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2%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standard (alți clienți)</a:t>
            </a:r>
            <a:endParaRPr lang="en-US" sz="10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+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1%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/an fidelitate non-VIP (max +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5%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537" y="1453902"/>
            <a:ext cx="2650852" cy="1189583"/>
          </a:xfrm>
          <a:prstGeom prst="roundRect">
            <a:avLst>
              <a:gd name="adj" fmla="val 5765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2249" y="1453902"/>
            <a:ext cx="57150" cy="1189583"/>
          </a:xfrm>
          <a:prstGeom prst="roundRect">
            <a:avLst>
              <a:gd name="adj" fmla="val 34884"/>
            </a:avLst>
          </a:prstGeom>
          <a:solidFill>
            <a:srgbClr val="C8CAC1"/>
          </a:solidFill>
          <a:ln/>
        </p:spPr>
      </p:sp>
      <p:sp>
        <p:nvSpPr>
          <p:cNvPr id="13" name="Text 11"/>
          <p:cNvSpPr/>
          <p:nvPr/>
        </p:nvSpPr>
        <p:spPr>
          <a:xfrm>
            <a:off x="3436590" y="1601093"/>
            <a:ext cx="219320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VOUCHER VALORIC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6590" y="1868537"/>
            <a:ext cx="2313608" cy="627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Scădere fixă: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50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lei</a:t>
            </a:r>
            <a:endParaRPr lang="en-US" sz="10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Plafonare la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 lei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(fără valori negative)</a:t>
            </a:r>
            <a:endParaRPr lang="en-US" sz="10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Aplicat după reduceri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97029" y="1453902"/>
            <a:ext cx="2650852" cy="1189583"/>
          </a:xfrm>
          <a:prstGeom prst="roundRect">
            <a:avLst>
              <a:gd name="adj" fmla="val 5765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2742" y="1453902"/>
            <a:ext cx="57150" cy="1189583"/>
          </a:xfrm>
          <a:prstGeom prst="roundRect">
            <a:avLst>
              <a:gd name="adj" fmla="val 34884"/>
            </a:avLst>
          </a:prstGeom>
          <a:solidFill>
            <a:srgbClr val="C8CAC1"/>
          </a:solidFill>
          <a:ln/>
        </p:spPr>
      </p:sp>
      <p:sp>
        <p:nvSpPr>
          <p:cNvPr id="17" name="Text 15"/>
          <p:cNvSpPr/>
          <p:nvPr/>
        </p:nvSpPr>
        <p:spPr>
          <a:xfrm>
            <a:off x="6187083" y="1601093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TAXĂ DE LIVRARE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7083" y="1868537"/>
            <a:ext cx="2313608" cy="627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Gratuită: sumă ≥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200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lei</a:t>
            </a:r>
            <a:endParaRPr lang="en-US" sz="10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Taxă: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15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lei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(sumă &lt; 200 lei)</a:t>
            </a:r>
            <a:endParaRPr lang="en-US" sz="10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Suprataxă: +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lei/kg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peste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B4530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10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kg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119" y="2755553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070" y="3053655"/>
            <a:ext cx="6113785" cy="11803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96119" y="4346079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72232"/>
            <a:ext cx="8244780" cy="652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GRAFICUL DE FLUX DE CONTROL (CFG) + METRICI CFG ȘI COMPLEXITATE CICLOMATICĂ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221010" y="1247477"/>
            <a:ext cx="8473380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Reprezentarea fluxului logic pentru metoda </a:t>
            </a:r>
            <a:pPr algn="ctr" indent="0" marL="0">
              <a:lnSpc>
                <a:spcPct val="106000"/>
              </a:lnSpc>
              <a:buNone/>
            </a:pPr>
            <a:r>
              <a:rPr lang="en-US" sz="800" i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calculeazaPretFinal</a:t>
            </a:r>
            <a:pPr algn="ctr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cu 20 de noduri și tranzițiile dintre ele.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10" y="1518419"/>
            <a:ext cx="1227609" cy="2359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88060" y="2415480"/>
            <a:ext cx="2578150" cy="565845"/>
          </a:xfrm>
          <a:prstGeom prst="roundRect">
            <a:avLst>
              <a:gd name="adj" fmla="val 276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392388" y="2519809"/>
            <a:ext cx="1781696" cy="1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FORMULA MCCABE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392388" y="2744316"/>
            <a:ext cx="2826693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V(G) = E - N + 2P = 29 - 21 + 2·1 = 10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125617" y="1518419"/>
            <a:ext cx="2578150" cy="594420"/>
          </a:xfrm>
          <a:prstGeom prst="roundRect">
            <a:avLst>
              <a:gd name="adj" fmla="val 11537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11329" y="1518419"/>
            <a:ext cx="57150" cy="594420"/>
          </a:xfrm>
          <a:prstGeom prst="roundRect">
            <a:avLst>
              <a:gd name="adj" fmla="val 27398"/>
            </a:avLst>
          </a:prstGeom>
          <a:solidFill>
            <a:srgbClr val="C8CAC1"/>
          </a:solidFill>
          <a:ln/>
        </p:spPr>
      </p:sp>
      <p:sp>
        <p:nvSpPr>
          <p:cNvPr id="10" name="Text 7"/>
          <p:cNvSpPr/>
          <p:nvPr/>
        </p:nvSpPr>
        <p:spPr>
          <a:xfrm>
            <a:off x="6287095" y="1637035"/>
            <a:ext cx="1761976" cy="1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NODURI (N)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87095" y="1861542"/>
            <a:ext cx="2755255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21</a:t>
            </a:r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noduri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25617" y="2174304"/>
            <a:ext cx="2578150" cy="594420"/>
          </a:xfrm>
          <a:prstGeom prst="roundRect">
            <a:avLst>
              <a:gd name="adj" fmla="val 11537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11329" y="2174304"/>
            <a:ext cx="57150" cy="594420"/>
          </a:xfrm>
          <a:prstGeom prst="roundRect">
            <a:avLst>
              <a:gd name="adj" fmla="val 27398"/>
            </a:avLst>
          </a:prstGeom>
          <a:solidFill>
            <a:srgbClr val="C8CAC1"/>
          </a:solidFill>
          <a:ln/>
        </p:spPr>
      </p:sp>
      <p:sp>
        <p:nvSpPr>
          <p:cNvPr id="14" name="Text 11"/>
          <p:cNvSpPr/>
          <p:nvPr/>
        </p:nvSpPr>
        <p:spPr>
          <a:xfrm>
            <a:off x="6287095" y="2292921"/>
            <a:ext cx="1761976" cy="1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ARCE (E)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87095" y="2517428"/>
            <a:ext cx="2755255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29</a:t>
            </a:r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arce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25617" y="2830190"/>
            <a:ext cx="2578150" cy="594420"/>
          </a:xfrm>
          <a:prstGeom prst="roundRect">
            <a:avLst>
              <a:gd name="adj" fmla="val 11537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11329" y="2830190"/>
            <a:ext cx="57150" cy="594420"/>
          </a:xfrm>
          <a:prstGeom prst="roundRect">
            <a:avLst>
              <a:gd name="adj" fmla="val 27398"/>
            </a:avLst>
          </a:prstGeom>
          <a:solidFill>
            <a:srgbClr val="C8CAC1"/>
          </a:solidFill>
          <a:ln/>
        </p:spPr>
      </p:sp>
      <p:sp>
        <p:nvSpPr>
          <p:cNvPr id="18" name="Text 15"/>
          <p:cNvSpPr/>
          <p:nvPr/>
        </p:nvSpPr>
        <p:spPr>
          <a:xfrm>
            <a:off x="6287095" y="2948806"/>
            <a:ext cx="1761976" cy="1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COMPONENTE (P)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87095" y="3173313"/>
            <a:ext cx="2755255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componentă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49610" y="4179689"/>
            <a:ext cx="8244780" cy="14288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1" name="Text 18"/>
          <p:cNvSpPr/>
          <p:nvPr/>
        </p:nvSpPr>
        <p:spPr>
          <a:xfrm>
            <a:off x="449610" y="4260428"/>
            <a:ext cx="1761976" cy="1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INTERPRETARE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9610" y="4460304"/>
            <a:ext cx="8694390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</a:t>
            </a:r>
            <a:pPr algn="l"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căi independente în cod.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2789"/>
            <a:ext cx="5698034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STRATEGII BLACK-BOX: EP ȘI BVA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189881"/>
            <a:ext cx="414464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EP – PARTIȚIONARE ÎN CLASE DE ECHIVALENȚĂ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444675"/>
            <a:ext cx="3935388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Am împărțit domeniul datelor de intrare în clase valide și invalide, asumând că datele din aceeași clasă sunt procesate identic de ProcesorComanda.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1832893"/>
            <a:ext cx="3935388" cy="1022077"/>
          </a:xfrm>
          <a:prstGeom prst="roundRect">
            <a:avLst>
              <a:gd name="adj" fmla="val 1690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406" y="1847180"/>
            <a:ext cx="460697" cy="993502"/>
          </a:xfrm>
          <a:prstGeom prst="roundRect">
            <a:avLst>
              <a:gd name="adj" fmla="val 2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5797" y="2235919"/>
            <a:ext cx="4013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45964" y="196229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CLASE INVALIDE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5964" y="2217093"/>
            <a:ext cx="3256136" cy="50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Array-uri nule/goale pentru prețuri</a:t>
            </a:r>
            <a:endParaRPr lang="en-US" sz="9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Greutate negativă</a:t>
            </a:r>
            <a:endParaRPr lang="en-US" sz="9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Ani de fidelitate negativi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929830"/>
            <a:ext cx="3935388" cy="1022077"/>
          </a:xfrm>
          <a:prstGeom prst="roundRect">
            <a:avLst>
              <a:gd name="adj" fmla="val 1690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406" y="2944118"/>
            <a:ext cx="460697" cy="993502"/>
          </a:xfrm>
          <a:prstGeom prst="roundRect">
            <a:avLst>
              <a:gd name="adj" fmla="val 2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5797" y="3332857"/>
            <a:ext cx="4013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45964" y="3059237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CLASE VALIDE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5964" y="3314030"/>
            <a:ext cx="3256136" cy="50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Comenzi de valoare mică/mare</a:t>
            </a:r>
            <a:endParaRPr lang="en-US" sz="9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Clienți VIP vs. standard</a:t>
            </a:r>
            <a:endParaRPr lang="en-US" sz="9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Utilizarea voucherului vs. neutilizare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6119" y="4036070"/>
            <a:ext cx="3935388" cy="380479"/>
          </a:xfrm>
          <a:prstGeom prst="roundRect">
            <a:avLst>
              <a:gd name="adj" fmla="val 4541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4188693"/>
            <a:ext cx="143917" cy="11511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0272" y="4139654"/>
            <a:ext cx="3903315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Implementare: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Clasa ProcesorComandaEPTest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17256" y="1189881"/>
            <a:ext cx="376587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BVA – ANALIZA VALORILOR DE FRONTIERĂ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17256" y="1444675"/>
            <a:ext cx="3935388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Ne-am concentrat pe limitele claselor de echivalență (unde apar de obicei erori de tipul &lt; în loc de &lt;=).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17256" y="1832893"/>
            <a:ext cx="1930226" cy="997595"/>
          </a:xfrm>
          <a:prstGeom prst="roundRect">
            <a:avLst>
              <a:gd name="adj" fmla="val 1732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662" y="1962299"/>
            <a:ext cx="167141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PRAGUL DE REDUCERE 10%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46662" y="2397026"/>
            <a:ext cx="2128614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999.9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(2%) vs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1000.0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(10%)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722343" y="1832893"/>
            <a:ext cx="1930301" cy="997595"/>
          </a:xfrm>
          <a:prstGeom prst="roundRect">
            <a:avLst>
              <a:gd name="adj" fmla="val 1732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1749" y="1962299"/>
            <a:ext cx="167148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GREUTATE SUPRATAXĂ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1749" y="2397026"/>
            <a:ext cx="1671489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5.0 kg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(fără) vs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5.1 kg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(cu suprataxă 2 lei)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17256" y="2905348"/>
            <a:ext cx="1930226" cy="997595"/>
          </a:xfrm>
          <a:prstGeom prst="roundRect">
            <a:avLst>
              <a:gd name="adj" fmla="val 1732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662" y="3034754"/>
            <a:ext cx="202465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LIVRARE GRATUITĂ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46662" y="3289548"/>
            <a:ext cx="1671414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 200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(cu taxă) vs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Peste 200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(gratuită)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722343" y="2905348"/>
            <a:ext cx="1930301" cy="997595"/>
          </a:xfrm>
          <a:prstGeom prst="roundRect">
            <a:avLst>
              <a:gd name="adj" fmla="val 1732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1749" y="3034754"/>
            <a:ext cx="167148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PLAFONARE FIDELITATE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1749" y="3469481"/>
            <a:ext cx="1671489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Anii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4, 5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(limită) vs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(plafonat la 5%)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17256" y="3987105"/>
            <a:ext cx="3935388" cy="380479"/>
          </a:xfrm>
          <a:prstGeom prst="roundRect">
            <a:avLst>
              <a:gd name="adj" fmla="val 4541"/>
            </a:avLst>
          </a:prstGeom>
          <a:solidFill>
            <a:srgbClr val="B6D6FC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375" y="4139729"/>
            <a:ext cx="143917" cy="11511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091410" y="4090690"/>
            <a:ext cx="3903315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Implementare: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Clasa ProcesorComandaBVATest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3876"/>
            <a:ext cx="8151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STRATEGII WHITE-BOX: COVERAGE ȘI CIRCUITE INDEPENDENTE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523479"/>
            <a:ext cx="8608963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Acoperire la Nivel de: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759669"/>
            <a:ext cx="4038451" cy="1207666"/>
          </a:xfrm>
          <a:prstGeom prst="roundRect">
            <a:avLst>
              <a:gd name="adj" fmla="val 1431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525" y="1889075"/>
            <a:ext cx="254161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INSTRUCȚIUNE &amp; DECIZIE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5525" y="2113880"/>
            <a:ext cx="4236839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Toate ramurile (if/else) au fost vizitate măcar o dată.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5525" y="2310780"/>
            <a:ext cx="3779639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Exemple: intrare pe ramura de voucher valabil, clamparea valorii negative la 0.0, etc.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09430" y="1759669"/>
            <a:ext cx="4038451" cy="1207666"/>
          </a:xfrm>
          <a:prstGeom prst="roundRect">
            <a:avLst>
              <a:gd name="adj" fmla="val 1431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8836" y="1889075"/>
            <a:ext cx="323827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CONDIȚIE (CONDITION COVERAGE)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8836" y="2113880"/>
            <a:ext cx="4236839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Am analizat deciziile compuse: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38836" y="2310780"/>
            <a:ext cx="377963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if (sumaInitiala &gt;= 1000.0 || isVIP)</a:t>
            </a:r>
            <a:endParaRPr lang="en-US" sz="9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if (aniFidelitate &gt; 0 &amp;&amp; !isVIP)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38836" y="2685901"/>
            <a:ext cx="4236839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Teste specifice pentru independența clauzelor: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C1=T/C2=F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și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C1=F/C2=T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3042196"/>
            <a:ext cx="8151763" cy="832545"/>
          </a:xfrm>
          <a:prstGeom prst="roundRect">
            <a:avLst>
              <a:gd name="adj" fmla="val 2075"/>
            </a:avLst>
          </a:prstGeom>
          <a:solidFill>
            <a:srgbClr val="E8E8E3"/>
          </a:solidFill>
          <a:ln w="14288">
            <a:solidFill>
              <a:srgbClr val="C8CA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525" y="3171602"/>
            <a:ext cx="252457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CIRCUITE INDEPENDENTE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5525" y="3396407"/>
            <a:ext cx="8350151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 baza complexității ciclomatice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V(G)=10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am conceput teste pentru </a:t>
            </a:r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trasee independente.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5525" y="3593306"/>
            <a:ext cx="8350151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Exemplu: scenariu care ocolește reducerea mare, nu aplică voucher, dar aplică dublă penalizare (taxă livrare + suprataxă greutate extremă).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6119" y="3987626"/>
            <a:ext cx="8151763" cy="8632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6119" y="4109145"/>
            <a:ext cx="8151763" cy="380479"/>
          </a:xfrm>
          <a:prstGeom prst="roundRect">
            <a:avLst>
              <a:gd name="adj" fmla="val 4541"/>
            </a:avLst>
          </a:prstGeom>
          <a:solidFill>
            <a:srgbClr val="B6D6FC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4261768"/>
            <a:ext cx="143917" cy="11511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70272" y="4212729"/>
            <a:ext cx="8119690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Implementare:</a:t>
            </a:r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Clasa ProcesorComandaWhiteBoxTest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5074" y="583109"/>
            <a:ext cx="63051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ACOPERIRE SI PIT TEST(FINAL)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9754" y="1323752"/>
            <a:ext cx="2326779" cy="375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92869" y="1855366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EP TESTS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94236" y="1323752"/>
            <a:ext cx="2326779" cy="375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10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3457352" y="1855366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BVA TESTS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58719" y="1323752"/>
            <a:ext cx="2326779" cy="375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14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6221834" y="1855366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WHITE-BOX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31913"/>
            <a:ext cx="3122340" cy="13213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6119" y="3780830"/>
            <a:ext cx="43601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Mutanții marcați SURVIVED sunt echivalenți funcțional (detalii în 6.4).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003" y="2331913"/>
            <a:ext cx="3122340" cy="17692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6119" y="4356274"/>
            <a:ext cx="86089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JaCoCo: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100% instruction coverage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·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100% branch coverage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·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26/26 linii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25959"/>
            <a:ext cx="651309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ANALIZA COMPARATIVĂ: SUITA PROPRIE VS. AUTOGENERATĂ (AI)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88379" y="883593"/>
            <a:ext cx="8167241" cy="2960117"/>
          </a:xfrm>
          <a:prstGeom prst="roundRect">
            <a:avLst>
              <a:gd name="adj" fmla="val 57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6549" y="936575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Criteriu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93070" y="936575"/>
            <a:ext cx="316252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Suita Proprie (33 tests)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29821" y="936575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Suita Autogenerată (AI) (15 tests)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06549" y="1186532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Nr. total teste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93070" y="1186532"/>
            <a:ext cx="316252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33 (3 clase)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29821" y="1186532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15 (1 clasa)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6549" y="1436489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Mutation Testing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93070" y="1436489"/>
            <a:ext cx="2705323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95% Test Strenght - niciun mutant ne-echivalent ramas in viata(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6.4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29821" y="1436489"/>
            <a:ext cx="2707704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85% Test Strenght - 9 mutanti ne-echivalenti ramasi in viata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06549" y="1835200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Acoperire trasee independente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93070" y="1835200"/>
            <a:ext cx="316252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Toate cele 10 trasee ciclomatice acoperite explicit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29821" y="1835200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Acoperire parțială — nu urmărește traseele CFG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6549" y="2085156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Precizie BVA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93070" y="2085156"/>
            <a:ext cx="3162523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Valori exacte la frontieră: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999.9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5.1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199.99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29821" y="2085156"/>
            <a:ext cx="2707704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⚠️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Valori aproximative: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999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,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210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(deasupra frontierei, nu pe ea)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6549" y="2488629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Condition Coverage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93070" y="2488629"/>
            <a:ext cx="2705323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Testează fiecare clauză a expresiilor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/ 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independent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29821" y="2488629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❌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Testează doar scenarii compuse, nu clauzele individual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6549" y="2892103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Greutate = 0.0 (BVA)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93070" y="2892103"/>
            <a:ext cx="316252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Testat explicit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29821" y="2892103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❌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Absent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06549" y="3142059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Fidelitate = 1 an (BVA minim)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93070" y="3142059"/>
            <a:ext cx="316252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Testat explicit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29821" y="3142059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❌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Absent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6549" y="3392016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Clamp voucher la exact 0.0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93070" y="3392016"/>
            <a:ext cx="316252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29821" y="3392016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6549" y="3641973"/>
            <a:ext cx="251229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Instruction Coverage (JaCoCo)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93070" y="3641973"/>
            <a:ext cx="3162523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829821" y="3641973"/>
            <a:ext cx="3164904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100%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8379" y="3952503"/>
            <a:ext cx="443046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AVANTAJE ȘI LIMITĂRI ALE SUITEI AUTOGENERATE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8379" y="4238476"/>
            <a:ext cx="8624441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Puncte forte: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acoperă rapid scenariile de bază, include verificări utile pentru limite importante și este mai compactă, deci mai ușor de rulat și întreținut.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8379" y="4468788"/>
            <a:ext cx="8624441" cy="148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Limitări:</a:t>
            </a:r>
            <a:pPr algn="l" indent="0" marL="0">
              <a:lnSpc>
                <a:spcPct val="109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are mai puține teste, granularitate mai redusă, validări mai puțin stricte și sensibilitate mai mică la mutanți.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86519"/>
            <a:ext cx="3156868" cy="3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MULȚUMIM!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65162" y="955551"/>
            <a:ext cx="86708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Testarea Unitară a ProcesorComanda în Java cu JUnit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65162" y="1168524"/>
            <a:ext cx="86708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Bunescu Robert · Furtuna Vlad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65162" y="1408435"/>
            <a:ext cx="8213675" cy="8037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5162" y="1517377"/>
            <a:ext cx="4073947" cy="2926631"/>
          </a:xfrm>
          <a:prstGeom prst="roundRect">
            <a:avLst>
              <a:gd name="adj" fmla="val 553"/>
            </a:avLst>
          </a:prstGeom>
          <a:solidFill>
            <a:srgbClr val="D8D9D2"/>
          </a:solidFill>
          <a:ln/>
        </p:spPr>
      </p:sp>
      <p:sp>
        <p:nvSpPr>
          <p:cNvPr id="7" name="Shape 5"/>
          <p:cNvSpPr/>
          <p:nvPr/>
        </p:nvSpPr>
        <p:spPr>
          <a:xfrm>
            <a:off x="573137" y="1625352"/>
            <a:ext cx="323924" cy="323924"/>
          </a:xfrm>
          <a:prstGeom prst="roundRect">
            <a:avLst>
              <a:gd name="adj" fmla="val 17641263"/>
            </a:avLst>
          </a:prstGeom>
          <a:solidFill>
            <a:srgbClr val="C8CAC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211" y="1714351"/>
            <a:ext cx="145777" cy="1457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3137" y="2015058"/>
            <a:ext cx="2043113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GITHUB REPOSITORY</a:t>
            </a:r>
            <a:endParaRPr lang="en-US" sz="1050" dirty="0"/>
          </a:p>
        </p:txBody>
      </p:sp>
      <p:pic>
        <p:nvPicPr>
          <p:cNvPr id="10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7" y="2257723"/>
            <a:ext cx="2507679" cy="18653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3137" y="4197028"/>
            <a:ext cx="43151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04891" y="1517377"/>
            <a:ext cx="4073947" cy="2926631"/>
          </a:xfrm>
          <a:prstGeom prst="roundRect">
            <a:avLst>
              <a:gd name="adj" fmla="val 553"/>
            </a:avLst>
          </a:prstGeom>
          <a:solidFill>
            <a:srgbClr val="D8D9D2"/>
          </a:solidFill>
          <a:ln/>
        </p:spPr>
      </p:sp>
      <p:sp>
        <p:nvSpPr>
          <p:cNvPr id="13" name="Shape 9"/>
          <p:cNvSpPr/>
          <p:nvPr/>
        </p:nvSpPr>
        <p:spPr>
          <a:xfrm>
            <a:off x="4712866" y="1625352"/>
            <a:ext cx="323924" cy="323924"/>
          </a:xfrm>
          <a:prstGeom prst="roundRect">
            <a:avLst>
              <a:gd name="adj" fmla="val 17641263"/>
            </a:avLst>
          </a:prstGeom>
          <a:solidFill>
            <a:srgbClr val="C8CAC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1939" y="1714351"/>
            <a:ext cx="145777" cy="1457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2866" y="2015058"/>
            <a:ext cx="1806997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YOUTUBE DEMO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712866" y="2223195"/>
            <a:ext cx="43151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endParaRPr lang="en-US" sz="850" dirty="0"/>
          </a:p>
        </p:txBody>
      </p:sp>
      <p:pic>
        <p:nvPicPr>
          <p:cNvPr id="17" name="Image 3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2866" y="2436168"/>
            <a:ext cx="2507679" cy="15908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6562" y="4517975"/>
            <a:ext cx="84422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     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2026-05-17T20:07:28Z</dcterms:created>
  <dcterms:modified xsi:type="dcterms:W3CDTF">2026-05-17T20:07:28Z</dcterms:modified>
</cp:coreProperties>
</file>